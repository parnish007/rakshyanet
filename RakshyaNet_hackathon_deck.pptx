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landslide closes a road in Sindhupalchok. The first three reports are a police radio call, a municipality WhatsApp message and a weather bulletin — and they disagree. RakshyaNet is the layer between those reports and the dispatch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says heavy vehicles can't pass, another says motorcycles can. Nobody knows how many households are cut off. A dispatcher has to commit a helicopter, and there are four for the entire country.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Gemma reads the reports and calls a deterministic route engine. A human authorizes the plan. Gemma never dispatches anything. Three states are never collapsed: not run, hosted model, declared fallback.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medical_urgency. UNKNOWN — not zero, not a guess. No source mentioned injuries, so the model reports the gap and asks a follow-up instead of interpolating a plausible number. It renders as a dash plus a hatch texture, so it survives colour-blindness and a bad projector.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declared functions. Gemma called list_corridor_status first — it wanted the real road graph before naming any corridor. Then it called run_optimization. This is the model's own JSON, before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is the model's actual reasoning from the function-calling turn — about 1,900 characters, unedited. You can read it deciding the road is not completely blocked. We did not summarise it and we did not write it. It called run_optimization with an empty blocked_edge_ids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do not trust any of that: here is the literal 8,208-character prompt we sent and the exact JSON that came back before validation. On the extraction call the thought body returns empty because a forced JSON mime type suppresses it — the panel says so rather than reconstructing anything.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track asks for a documented naive baseline. Ours is shortest-path-only, no terrain weighting, closures ignored — the same engine with two behaviours switched off. Close the corridor that carries every ground route: the naive planner keeps 4 of 9 routes executable, all five trucks routed through a road nobody can drive. We keep 9 of 9 for 8% more distance. And terrain weighting alone changes no path on this network — the advantage is entirely closure-aware re-planning.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Distances are the raw sum of edge lengths, never the terrain-weighted search cost. Say this before anyone asks: this is a KKT feasibility diagnostic, not a proof of optimality. Three of the four conditions hold for any feasible allocation by construction, and the API ships independently_proves_optimality false so nothing downstream can misread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asset, and whether its route is feasible or excluded. An operator authorizes a plan, not the integer nine routes. Approval authorizes coordination for one versioned run; it does not dispatch vehicles. If the server has its own blocking reasons they are printed verbatim, and the server re-checks them on submit.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fleet is held at the depot until a human authorizes. Then the operator scrubs mission time. This is not an animation loosely inspired by the plan — a CI audit asserts the rendered position matches the solver's eta_minutes to six decimal places.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OCHA's review of the 2015 earthquake found rural communities cut off for days — communication and logistics failures, not a shortage of supplies. That is an interpretation and routing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Volunteer these before the questions come. Fixtures, labelled as such in the interface. A greedy heuristic and a proportional allocation, with no optimality certificate. Terrain weighting changes no path here. The function-calling path takes 30 to 60 seconds. Devanagari evidence is not yet supported.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Gemma reads, reasons, and calls the engine. It never dispatches. Repo and live demo are on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webp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750" y="2756535"/>
            <a:ext cx="1714500" cy="1714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43832" y="4890135"/>
            <a:ext cx="506024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614"/>
              </a:lnSpc>
              <a:buNone/>
            </a:pPr>
            <a:r>
              <a:rPr lang="en-US" sz="6600" b="1" spc="-132" kern="0" dirty="0">
                <a:solidFill>
                  <a:srgbClr val="F0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RakshyaNet</a:t>
            </a:r>
            <a:endParaRPr lang="en-US" sz="6600" dirty="0"/>
          </a:p>
        </p:txBody>
      </p:sp>
      <p:sp>
        <p:nvSpPr>
          <p:cNvPr id="5" name="Text 1"/>
          <p:cNvSpPr/>
          <p:nvPr/>
        </p:nvSpPr>
        <p:spPr>
          <a:xfrm>
            <a:off x="3061335" y="6147435"/>
            <a:ext cx="1216533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814"/>
              </a:lnSpc>
              <a:buNone/>
            </a:pPr>
            <a:r>
              <a:rPr lang="en-US" sz="2250" dirty="0">
                <a:solidFill>
                  <a:srgbClr val="B8B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Gemma-grounded evidence extraction · terrain-constrained route intelligence · human-authorized dispatch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387459" y="7423785"/>
            <a:ext cx="826439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" kern="0" dirty="0">
                <a:solidFill>
                  <a:srgbClr val="8D9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Track: Route Intelligence · Model: gemma-4-26b-a4b-it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8D9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42113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930"/>
              </a:lnSpc>
              <a:buNone/>
            </a:pPr>
            <a:r>
              <a:rPr lang="en-US" sz="4500" b="1" spc="-67" kern="0" dirty="0">
                <a:solidFill>
                  <a:srgbClr val="F0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reports contradict each other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2583180"/>
            <a:ext cx="5219700" cy="1962150"/>
          </a:xfrm>
          <a:prstGeom prst="roundRect">
            <a:avLst>
              <a:gd name="adj" fmla="val 3883"/>
            </a:avLst>
          </a:prstGeom>
          <a:solidFill>
            <a:srgbClr val="111411"/>
          </a:solidFill>
          <a:ln w="7620">
            <a:solidFill>
              <a:srgbClr val="E7EBE2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9220" y="2933700"/>
            <a:ext cx="501243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8D9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Nepal Police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9220" y="3421380"/>
            <a:ext cx="4693463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F0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“Heavy vehicles cannot pass the primary approach.”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534150" y="2583180"/>
            <a:ext cx="5219700" cy="1962150"/>
          </a:xfrm>
          <a:prstGeom prst="roundRect">
            <a:avLst>
              <a:gd name="adj" fmla="val 3883"/>
            </a:avLst>
          </a:prstGeom>
          <a:solidFill>
            <a:srgbClr val="111411"/>
          </a:solidFill>
          <a:ln w="7620">
            <a:solidFill>
              <a:srgbClr val="E7EBE2">
                <a:alpha val="1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65620" y="2933700"/>
            <a:ext cx="501243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8D9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Municipality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65620" y="3421380"/>
            <a:ext cx="5012436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F0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“180–340 residents isolated.”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2020550" y="2583180"/>
            <a:ext cx="5219700" cy="1962150"/>
          </a:xfrm>
          <a:prstGeom prst="roundRect">
            <a:avLst>
              <a:gd name="adj" fmla="val 3883"/>
            </a:avLst>
          </a:prstGeom>
          <a:solidFill>
            <a:srgbClr val="111411"/>
          </a:solidFill>
          <a:ln w="7620">
            <a:solidFill>
              <a:srgbClr val="E7EBE2">
                <a:alpha val="1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52020" y="2933700"/>
            <a:ext cx="501243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8D9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DHM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52020" y="3421380"/>
            <a:ext cx="4693463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F0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“Continued rainfall, risk of secondary landslides.”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047750" y="5078730"/>
            <a:ext cx="13735050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54"/>
              </a:lnSpc>
              <a:buNone/>
            </a:pPr>
            <a:r>
              <a:rPr lang="en-US" sz="2700" dirty="0">
                <a:solidFill>
                  <a:srgbClr val="F0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disagree. A dispatcher must commit a helicopter, and there are four for the entire country.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1047750" y="8915400"/>
            <a:ext cx="16192500" cy="9525"/>
          </a:xfrm>
          <a:prstGeom prst="rect">
            <a:avLst/>
          </a:prstGeom>
          <a:solidFill>
            <a:srgbClr val="E7EBE2">
              <a:alpha val="1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47750" y="9227820"/>
            <a:ext cx="1667827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D9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 distance averages 1.43× straight-line, up to 1.80×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8D9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42113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930"/>
              </a:lnSpc>
              <a:buNone/>
            </a:pPr>
            <a:r>
              <a:rPr lang="en-US" sz="4500" b="1" spc="-67" kern="0" dirty="0">
                <a:solidFill>
                  <a:srgbClr val="F0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Gemma sits, and where it stops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2964180"/>
            <a:ext cx="3563779" cy="2887980"/>
          </a:xfrm>
          <a:prstGeom prst="roundRect">
            <a:avLst>
              <a:gd name="adj" fmla="val 2639"/>
            </a:avLst>
          </a:prstGeom>
          <a:solidFill>
            <a:srgbClr val="111411"/>
          </a:solidFill>
          <a:ln w="7620">
            <a:solidFill>
              <a:srgbClr val="E7EBE2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60170" y="3352800"/>
            <a:ext cx="323283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8D9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60170" y="3802380"/>
            <a:ext cx="3232833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846"/>
              </a:lnSpc>
              <a:buNone/>
            </a:pPr>
            <a:r>
              <a:rPr lang="en-US" sz="2700" b="1" dirty="0">
                <a:solidFill>
                  <a:srgbClr val="8D9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360170" y="4366260"/>
            <a:ext cx="3027107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1800" dirty="0">
                <a:solidFill>
                  <a:srgbClr val="B8B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Police, municipality and weather reports, each with an ID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40129" y="2964180"/>
            <a:ext cx="264795" cy="2926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8D9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5257324" y="2964180"/>
            <a:ext cx="3563779" cy="2887980"/>
          </a:xfrm>
          <a:prstGeom prst="roundRect">
            <a:avLst>
              <a:gd name="adj" fmla="val 2639"/>
            </a:avLst>
          </a:prstGeom>
          <a:solidFill>
            <a:srgbClr val="111411"/>
          </a:solidFill>
          <a:ln w="7620">
            <a:solidFill>
              <a:srgbClr val="9AA6D0">
                <a:alpha val="3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69744" y="3352800"/>
            <a:ext cx="323283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9AA6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569744" y="3802380"/>
            <a:ext cx="3232833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846"/>
              </a:lnSpc>
              <a:buNone/>
            </a:pPr>
            <a:r>
              <a:rPr lang="en-US" sz="2700" b="1" dirty="0">
                <a:solidFill>
                  <a:srgbClr val="9AA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569744" y="4366260"/>
            <a:ext cx="302710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1800" dirty="0">
                <a:solidFill>
                  <a:srgbClr val="B8B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Extracts cited signals and calls the engine by function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049703" y="2964180"/>
            <a:ext cx="264795" cy="2926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8D9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9466898" y="2964180"/>
            <a:ext cx="3563779" cy="2887980"/>
          </a:xfrm>
          <a:prstGeom prst="roundRect">
            <a:avLst>
              <a:gd name="adj" fmla="val 2639"/>
            </a:avLst>
          </a:prstGeom>
          <a:solidFill>
            <a:srgbClr val="111411"/>
          </a:solidFill>
          <a:ln w="7620">
            <a:solidFill>
              <a:srgbClr val="7FB0A6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79318" y="3352800"/>
            <a:ext cx="323283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FB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779318" y="3802380"/>
            <a:ext cx="3027107" cy="861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846"/>
              </a:lnSpc>
              <a:buNone/>
            </a:pPr>
            <a:r>
              <a:rPr lang="en-US" sz="2700" b="1" dirty="0">
                <a:solidFill>
                  <a:srgbClr val="7FB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engine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9779318" y="4777740"/>
            <a:ext cx="302710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1800" dirty="0">
                <a:solidFill>
                  <a:srgbClr val="B8B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Urgency, capability-filtered routing, capped allocation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9277" y="2964180"/>
            <a:ext cx="264795" cy="2926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8D9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13676471" y="2964180"/>
            <a:ext cx="3563779" cy="2887980"/>
          </a:xfrm>
          <a:prstGeom prst="roundRect">
            <a:avLst>
              <a:gd name="adj" fmla="val 2639"/>
            </a:avLst>
          </a:prstGeom>
          <a:solidFill>
            <a:srgbClr val="111411"/>
          </a:solidFill>
          <a:ln w="7620">
            <a:solidFill>
              <a:srgbClr val="C7A05D">
                <a:alpha val="3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988891" y="3352800"/>
            <a:ext cx="323283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C7A0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988891" y="3802380"/>
            <a:ext cx="3027107" cy="861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846"/>
              </a:lnSpc>
              <a:buNone/>
            </a:pPr>
            <a:r>
              <a:rPr lang="en-US" sz="2700" b="1" dirty="0">
                <a:solidFill>
                  <a:srgbClr val="C7A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authorization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3988891" y="4777740"/>
            <a:ext cx="302710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1800" dirty="0">
                <a:solidFill>
                  <a:srgbClr val="B8B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operator approves a versioned plan, or does not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47750" y="6614160"/>
            <a:ext cx="157162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814"/>
              </a:lnSpc>
              <a:buNone/>
            </a:pPr>
            <a:r>
              <a:rPr lang="en-US" sz="2250" dirty="0">
                <a:solidFill>
                  <a:srgbClr val="F0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interprets and chooses the computation. It cannot allocate, route, approve, or dispatch.</a:t>
            </a:r>
            <a:endParaRPr lang="en-US" sz="2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9AA6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GEMMA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42113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930"/>
              </a:lnSpc>
              <a:buNone/>
            </a:pPr>
            <a:r>
              <a:rPr lang="en-US" sz="4500" b="1" spc="-67" kern="0" dirty="0">
                <a:solidFill>
                  <a:srgbClr val="F0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refuses to guess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2297430"/>
            <a:ext cx="1373505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B8B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source mentioned injuries, so the model reports the gap and asks a follow-up question instead of interpolating a plausible number.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047750" y="3440430"/>
            <a:ext cx="14302740" cy="4825365"/>
          </a:xfrm>
          <a:prstGeom prst="roundRect">
            <a:avLst>
              <a:gd name="adj" fmla="val 1579"/>
            </a:avLst>
          </a:prstGeom>
          <a:ln w="7620">
            <a:solidFill>
              <a:srgbClr val="1A1E1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79" b="-79"/>
          <a:stretch/>
        </p:blipFill>
        <p:spPr>
          <a:xfrm>
            <a:off x="1047750" y="3440430"/>
            <a:ext cx="14302740" cy="48253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7750" y="8551545"/>
            <a:ext cx="1471612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1800" dirty="0">
                <a:solidFill>
                  <a:srgbClr val="8D9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Unknown, zero, unavailable and not-applicable stay four distinct states. UNKNOWN renders as a dash and a hatch texture, so it survives colour-blindness and a bad projector.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9AA6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GEMMA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42113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930"/>
              </a:lnSpc>
              <a:buNone/>
            </a:pPr>
            <a:r>
              <a:rPr lang="en-US" sz="4500" b="1" spc="-67" kern="0" dirty="0">
                <a:solidFill>
                  <a:srgbClr val="F0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calls the engine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2297430"/>
            <a:ext cx="1781175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73"/>
              </a:lnSpc>
              <a:buNone/>
            </a:pPr>
            <a:r>
              <a:rPr lang="en-US" sz="1950" dirty="0">
                <a:solidFill>
                  <a:srgbClr val="9AA6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list_corridor_status()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47750" y="2739390"/>
            <a:ext cx="1781175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73"/>
              </a:lnSpc>
              <a:buNone/>
            </a:pPr>
            <a:r>
              <a:rPr lang="en-US" sz="1950" dirty="0">
                <a:solidFill>
                  <a:srgbClr val="9AA6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run_optimization(analysis_id, blocked_edge_ids, time_elapsed_hours, rationale)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1047750" y="3390900"/>
            <a:ext cx="16207740" cy="4130040"/>
          </a:xfrm>
          <a:prstGeom prst="roundRect">
            <a:avLst>
              <a:gd name="adj" fmla="val 1845"/>
            </a:avLst>
          </a:prstGeom>
          <a:ln w="7620">
            <a:solidFill>
              <a:srgbClr val="1A1E1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14" b="-114"/>
          <a:stretch/>
        </p:blipFill>
        <p:spPr>
          <a:xfrm>
            <a:off x="1047750" y="3390900"/>
            <a:ext cx="16207740" cy="413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47750" y="7806690"/>
            <a:ext cx="423291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B8B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must match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162550" y="7806690"/>
            <a:ext cx="423291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B8B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Corridors must exist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277350" y="7806690"/>
            <a:ext cx="423291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B8B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bounded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3392150" y="7806690"/>
            <a:ext cx="423291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B8B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Rationale screened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47750" y="8336280"/>
            <a:ext cx="178117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1800" dirty="0">
                <a:solidFill>
                  <a:srgbClr val="8D9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rejected argument goes back to the model, never to the engine.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9AA6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GEMMA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42113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930"/>
              </a:lnSpc>
              <a:buNone/>
            </a:pPr>
            <a:r>
              <a:rPr lang="en-US" sz="4500" b="1" spc="-67" kern="0" dirty="0">
                <a:solidFill>
                  <a:srgbClr val="F0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show you the model thinking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2335530"/>
            <a:ext cx="1530477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929"/>
              </a:lnSpc>
              <a:buNone/>
            </a:pPr>
            <a:r>
              <a:rPr lang="en-US" sz="2250" dirty="0">
                <a:solidFill>
                  <a:srgbClr val="9AA6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“The evidence says ‘Heavy vehicles cannot pass… Motorcycles and trained foot teams may pass’. This means the corridor is not completely blocked.”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047750" y="3459480"/>
            <a:ext cx="1530477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57"/>
              </a:lnSpc>
              <a:buNone/>
            </a:pPr>
            <a:r>
              <a:rPr lang="en-US" sz="1950" dirty="0">
                <a:solidFill>
                  <a:srgbClr val="B8B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called </a:t>
            </a:r>
            <a:pPr algn="l" indent="0" marL="0">
              <a:lnSpc>
                <a:spcPct val="131757"/>
              </a:lnSpc>
              <a:buNone/>
            </a:pPr>
            <a:r>
              <a:rPr lang="en-US" sz="1950" dirty="0">
                <a:solidFill>
                  <a:srgbClr val="F0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run_optimization </a:t>
            </a:r>
            <a:pPr algn="l" indent="0" marL="0">
              <a:lnSpc>
                <a:spcPct val="131757"/>
              </a:lnSpc>
              <a:buNone/>
            </a:pPr>
            <a:r>
              <a:rPr lang="en-US" sz="1950" dirty="0">
                <a:solidFill>
                  <a:srgbClr val="B8B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</a:t>
            </a:r>
            <a:pPr algn="l" indent="0" marL="0">
              <a:lnSpc>
                <a:spcPct val="131757"/>
              </a:lnSpc>
              <a:buNone/>
            </a:pPr>
            <a:r>
              <a:rPr lang="en-US" sz="1950" dirty="0">
                <a:solidFill>
                  <a:srgbClr val="F0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blocked_edge_ids: [] </a:t>
            </a:r>
            <a:pPr algn="l" indent="0" marL="0">
              <a:lnSpc>
                <a:spcPct val="131757"/>
              </a:lnSpc>
              <a:buNone/>
            </a:pPr>
            <a:r>
              <a:rPr lang="en-US" sz="1950" dirty="0">
                <a:solidFill>
                  <a:srgbClr val="B8B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it refused to delete a usable corridor on contradictory evidence. Deleting one can strand a district.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1047750" y="4507230"/>
            <a:ext cx="16207740" cy="3396615"/>
          </a:xfrm>
          <a:prstGeom prst="roundRect">
            <a:avLst>
              <a:gd name="adj" fmla="val 2243"/>
            </a:avLst>
          </a:prstGeom>
          <a:ln w="7620">
            <a:solidFill>
              <a:srgbClr val="1A1E1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209" b="-209"/>
          <a:stretch/>
        </p:blipFill>
        <p:spPr>
          <a:xfrm>
            <a:off x="1047750" y="4507230"/>
            <a:ext cx="16207740" cy="339661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47750" y="8113395"/>
            <a:ext cx="178117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D9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~1,900 characters of reasoning, unedited. Not summarised by us.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9AA6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GEMMA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42113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930"/>
              </a:lnSpc>
              <a:buNone/>
            </a:pPr>
            <a:r>
              <a:rPr lang="en-US" sz="4500" b="1" spc="-67" kern="0" dirty="0">
                <a:solidFill>
                  <a:srgbClr val="F0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exchange is inspectable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2335530"/>
            <a:ext cx="574167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B8B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exact 8,208-character prompt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534150" y="2335530"/>
            <a:ext cx="574167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B8B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raw JSON before validation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020550" y="2335530"/>
            <a:ext cx="574167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B8B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reasoning channel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47750" y="2960370"/>
            <a:ext cx="16207740" cy="4244340"/>
          </a:xfrm>
          <a:prstGeom prst="roundRect">
            <a:avLst>
              <a:gd name="adj" fmla="val 1795"/>
            </a:avLst>
          </a:prstGeom>
          <a:ln w="7620">
            <a:solidFill>
              <a:srgbClr val="1A1E1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92" b="-192"/>
          <a:stretch/>
        </p:blipFill>
        <p:spPr>
          <a:xfrm>
            <a:off x="1047750" y="2960370"/>
            <a:ext cx="16207740" cy="42443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47750" y="7490460"/>
            <a:ext cx="1530477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57"/>
              </a:lnSpc>
              <a:buNone/>
            </a:pPr>
            <a:r>
              <a:rPr lang="en-US" sz="1950" dirty="0">
                <a:solidFill>
                  <a:srgbClr val="8D9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extraction call the thought body returns empty, because a forced JSON mime type suppresses it. The interface says so rather than reconstructing anything.</a:t>
            </a:r>
            <a:endParaRPr lang="en-US" sz="1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7FB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42113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930"/>
              </a:lnSpc>
              <a:buNone/>
            </a:pPr>
            <a:r>
              <a:rPr lang="en-US" sz="4500" b="1" spc="-67" kern="0" dirty="0">
                <a:solidFill>
                  <a:srgbClr val="F0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defined the naive baseline, then beat it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2240280"/>
            <a:ext cx="1569720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57"/>
              </a:lnSpc>
              <a:buNone/>
            </a:pPr>
            <a:r>
              <a:rPr lang="en-US" sz="1950" dirty="0">
                <a:solidFill>
                  <a:srgbClr val="B8B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Shortest-path-only, no terrain weighting, closures ignored — the same engine with two flags off. Same road graph, same Dijkstra, same capacity and fuel constraints, same urgency model, same allocation.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47750" y="3307080"/>
            <a:ext cx="282958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8D9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NAIVE PLANNER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3661410"/>
            <a:ext cx="2829580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443"/>
              </a:lnSpc>
              <a:buNone/>
            </a:pPr>
            <a:r>
              <a:rPr lang="en-US" sz="11250" b="1" dirty="0">
                <a:solidFill>
                  <a:srgbClr val="D06E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algn="l" indent="0" marL="0">
              <a:lnSpc>
                <a:spcPct val="88443"/>
              </a:lnSpc>
              <a:buNone/>
            </a:pPr>
            <a:r>
              <a:rPr lang="en-US" sz="11250" b="1" dirty="0">
                <a:solidFill>
                  <a:srgbClr val="D06E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/9</a:t>
            </a:r>
            <a:endParaRPr lang="en-US" sz="11250" dirty="0"/>
          </a:p>
        </p:txBody>
      </p:sp>
      <p:sp>
        <p:nvSpPr>
          <p:cNvPr id="7" name="Text 5"/>
          <p:cNvSpPr/>
          <p:nvPr/>
        </p:nvSpPr>
        <p:spPr>
          <a:xfrm>
            <a:off x="4305895" y="3307080"/>
            <a:ext cx="282958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8D9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RAKSHYANET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305895" y="3661410"/>
            <a:ext cx="2829580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443"/>
              </a:lnSpc>
              <a:buNone/>
            </a:pPr>
            <a:r>
              <a:rPr lang="en-US" sz="11250" b="1" dirty="0">
                <a:solidFill>
                  <a:srgbClr val="79A5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pPr algn="l" indent="0" marL="0">
              <a:lnSpc>
                <a:spcPct val="88443"/>
              </a:lnSpc>
              <a:buNone/>
            </a:pPr>
            <a:r>
              <a:rPr lang="en-US" sz="11250" b="1" dirty="0">
                <a:solidFill>
                  <a:srgbClr val="79A5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/9</a:t>
            </a:r>
            <a:endParaRPr lang="en-US" sz="11250" dirty="0"/>
          </a:p>
        </p:txBody>
      </p:sp>
      <p:sp>
        <p:nvSpPr>
          <p:cNvPr id="9" name="Text 7"/>
          <p:cNvSpPr/>
          <p:nvPr/>
        </p:nvSpPr>
        <p:spPr>
          <a:xfrm>
            <a:off x="7564041" y="3855720"/>
            <a:ext cx="1064383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800" dirty="0">
                <a:solidFill>
                  <a:srgbClr val="B8B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Executable routes after a corridor on the plan closes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564041" y="4271010"/>
            <a:ext cx="9966496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1800" dirty="0">
                <a:solidFill>
                  <a:srgbClr val="8D9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naive routes run through the closed corridor · all five trucks stranded · +8.0% distance, +10.4% time for us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47750" y="5375910"/>
            <a:ext cx="16207740" cy="2853690"/>
          </a:xfrm>
          <a:prstGeom prst="roundRect">
            <a:avLst>
              <a:gd name="adj" fmla="val 2670"/>
            </a:avLst>
          </a:prstGeom>
          <a:ln w="7620">
            <a:solidFill>
              <a:srgbClr val="1A1E19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45" b="-145"/>
          <a:stretch/>
        </p:blipFill>
        <p:spPr>
          <a:xfrm>
            <a:off x="1047750" y="5375910"/>
            <a:ext cx="16207740" cy="285369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47750" y="8458200"/>
            <a:ext cx="178117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1800" dirty="0">
                <a:solidFill>
                  <a:srgbClr val="8D9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limitation: on this network terrain weighting alone changes no path. The advantage is entirely closure-aware re-planning.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7FB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MATHEMATICS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42113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930"/>
              </a:lnSpc>
              <a:buNone/>
            </a:pPr>
            <a:r>
              <a:rPr lang="en-US" sz="4500" b="1" spc="-67" kern="0" dirty="0">
                <a:solidFill>
                  <a:srgbClr val="F0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mathematics, and what it does not prove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2354580"/>
            <a:ext cx="5219700" cy="2415540"/>
          </a:xfrm>
          <a:prstGeom prst="roundRect">
            <a:avLst>
              <a:gd name="adj" fmla="val 3155"/>
            </a:avLst>
          </a:prstGeom>
          <a:solidFill>
            <a:srgbClr val="111411"/>
          </a:solidFill>
          <a:ln w="7620">
            <a:solidFill>
              <a:srgbClr val="E7EBE2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41120" y="2628900"/>
            <a:ext cx="509625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7FB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Urgency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41120" y="3040380"/>
            <a:ext cx="5096256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73"/>
              </a:lnSpc>
              <a:buNone/>
            </a:pPr>
            <a:r>
              <a:rPr lang="en-US" sz="1950" dirty="0">
                <a:solidFill>
                  <a:srgbClr val="F0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T(t) = 1 + 0.5(e^0.3t − 1)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341120" y="3501390"/>
            <a:ext cx="4771949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941"/>
              </a:lnSpc>
              <a:buNone/>
            </a:pPr>
            <a:r>
              <a:rPr lang="en-US" sz="1800" dirty="0">
                <a:solidFill>
                  <a:srgbClr val="B8B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 eight is not four times worse than hour two.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34150" y="2354580"/>
            <a:ext cx="5219700" cy="2415540"/>
          </a:xfrm>
          <a:prstGeom prst="roundRect">
            <a:avLst>
              <a:gd name="adj" fmla="val 3155"/>
            </a:avLst>
          </a:prstGeom>
          <a:solidFill>
            <a:srgbClr val="111411"/>
          </a:solidFill>
          <a:ln w="7620">
            <a:solidFill>
              <a:srgbClr val="E7EBE2">
                <a:alpha val="1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27520" y="2628900"/>
            <a:ext cx="509625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7FB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27520" y="3040380"/>
            <a:ext cx="5096256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73"/>
              </a:lnSpc>
              <a:buNone/>
            </a:pPr>
            <a:r>
              <a:rPr lang="en-US" sz="1950" dirty="0">
                <a:solidFill>
                  <a:srgbClr val="F0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 = d(1 + 0.06·max(0, τ−1))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827520" y="3501390"/>
            <a:ext cx="4771949" cy="1032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941"/>
              </a:lnSpc>
              <a:buNone/>
            </a:pPr>
            <a:r>
              <a:rPr lang="en-US" sz="1800" dirty="0">
                <a:solidFill>
                  <a:srgbClr val="B8B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Capability- and closure-filtered Dijkstra. Reported distance is the raw edge sum, never the weighted search cost.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020550" y="2354580"/>
            <a:ext cx="5219700" cy="2415540"/>
          </a:xfrm>
          <a:prstGeom prst="roundRect">
            <a:avLst>
              <a:gd name="adj" fmla="val 3155"/>
            </a:avLst>
          </a:prstGeom>
          <a:solidFill>
            <a:srgbClr val="111411"/>
          </a:solidFill>
          <a:ln w="7620">
            <a:solidFill>
              <a:srgbClr val="E7EBE2">
                <a:alpha val="1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13920" y="2628900"/>
            <a:ext cx="509625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7FB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Allocation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13920" y="3040380"/>
            <a:ext cx="5096256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73"/>
              </a:lnSpc>
              <a:buNone/>
            </a:pPr>
            <a:r>
              <a:rPr lang="en-US" sz="1950" dirty="0">
                <a:solidFill>
                  <a:srgbClr val="F0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capped proportional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2313920" y="3501390"/>
            <a:ext cx="4771949" cy="1032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941"/>
              </a:lnSpc>
              <a:buNone/>
            </a:pPr>
            <a:r>
              <a:rPr lang="en-US" sz="1800" dirty="0">
                <a:solidFill>
                  <a:srgbClr val="B8B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Convergence is reported as a normalized residual; unrecorded iterations are omitted, not plotted as zero.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47750" y="5036820"/>
            <a:ext cx="16207740" cy="2977515"/>
          </a:xfrm>
          <a:prstGeom prst="roundRect">
            <a:avLst>
              <a:gd name="adj" fmla="val 2559"/>
            </a:avLst>
          </a:prstGeom>
          <a:ln w="7620">
            <a:solidFill>
              <a:srgbClr val="1A1E19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84" b="-184"/>
          <a:stretch/>
        </p:blipFill>
        <p:spPr>
          <a:xfrm>
            <a:off x="1047750" y="5036820"/>
            <a:ext cx="16207740" cy="2977515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1047750" y="8261985"/>
            <a:ext cx="16192500" cy="1236345"/>
          </a:xfrm>
          <a:prstGeom prst="roundRect">
            <a:avLst>
              <a:gd name="adj" fmla="val 6163"/>
            </a:avLst>
          </a:prstGeom>
          <a:ln w="7620">
            <a:solidFill>
              <a:srgbClr val="C7A05D">
                <a:alpha val="45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341120" y="8517255"/>
            <a:ext cx="16073933" cy="763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365"/>
              </a:lnSpc>
              <a:buNone/>
            </a:pPr>
            <a:r>
              <a:rPr lang="en-US" sz="1950" b="1" dirty="0">
                <a:solidFill>
                  <a:srgbClr val="C7A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of the four KKT conditions hold for any feasible allocation by construction. We ship it as a feasibility diagnostic with </a:t>
            </a:r>
            <a:pPr algn="l" indent="0" marL="0">
              <a:lnSpc>
                <a:spcPct val="127365"/>
              </a:lnSpc>
              <a:buNone/>
            </a:pPr>
            <a:r>
              <a:rPr lang="en-US" sz="1950" dirty="0">
                <a:solidFill>
                  <a:srgbClr val="C7A0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independently_proves_optimality: false</a:t>
            </a:r>
            <a:pPr algn="l" indent="0" marL="0">
              <a:lnSpc>
                <a:spcPct val="127365"/>
              </a:lnSpc>
              <a:buNone/>
            </a:pPr>
            <a:r>
              <a:rPr lang="en-US" sz="1950" b="1" dirty="0">
                <a:solidFill>
                  <a:srgbClr val="C7A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It is not a proof of optimality.</a:t>
            </a:r>
            <a:endParaRPr lang="en-US" sz="1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C7A0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 GATE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42113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930"/>
              </a:lnSpc>
              <a:buNone/>
            </a:pPr>
            <a:r>
              <a:rPr lang="en-US" sz="4500" b="1" spc="-67" kern="0" dirty="0">
                <a:solidFill>
                  <a:srgbClr val="F0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operator authorizes a plan, not an integer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2392680"/>
            <a:ext cx="10492740" cy="5044440"/>
          </a:xfrm>
          <a:prstGeom prst="roundRect">
            <a:avLst>
              <a:gd name="adj" fmla="val 1511"/>
            </a:avLst>
          </a:prstGeom>
          <a:ln w="7620">
            <a:solidFill>
              <a:srgbClr val="1A1E1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16" b="-116"/>
          <a:stretch/>
        </p:blipFill>
        <p:spPr>
          <a:xfrm>
            <a:off x="1047750" y="2392680"/>
            <a:ext cx="10492740" cy="5044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47750" y="7627620"/>
            <a:ext cx="10492740" cy="1263015"/>
          </a:xfrm>
          <a:prstGeom prst="roundRect">
            <a:avLst>
              <a:gd name="adj" fmla="val 6033"/>
            </a:avLst>
          </a:prstGeom>
          <a:ln w="7620">
            <a:solidFill>
              <a:srgbClr val="1A1E19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670" b="-670"/>
          <a:stretch/>
        </p:blipFill>
        <p:spPr>
          <a:xfrm>
            <a:off x="1047750" y="7627620"/>
            <a:ext cx="10492740" cy="126301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921490" y="2392680"/>
            <a:ext cx="585063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1800" dirty="0">
                <a:solidFill>
                  <a:srgbClr val="B8B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asset carries a feasible or excluded state.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11921490" y="2945130"/>
            <a:ext cx="547832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1800" dirty="0">
                <a:solidFill>
                  <a:srgbClr val="B8B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authorizes coordination for one versioned run. It does not dispatch.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1921490" y="3840480"/>
            <a:ext cx="547832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1800" dirty="0">
                <a:solidFill>
                  <a:srgbClr val="B8B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server's own refusal reasons are shown verbatim and re-checked on submit.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1921490" y="4735830"/>
            <a:ext cx="547832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1800" dirty="0">
                <a:solidFill>
                  <a:srgbClr val="B8B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Unresolved exceptions require an acknowledgement and a written rationale.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1921490" y="5631180"/>
            <a:ext cx="547832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1800" dirty="0">
                <a:solidFill>
                  <a:srgbClr val="C7A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 leaves a receipt: who, when, and why.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7FB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 CONTROL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42113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930"/>
              </a:lnSpc>
              <a:buNone/>
            </a:pPr>
            <a:r>
              <a:rPr lang="en-US" sz="4500" b="1" spc="-67" kern="0" dirty="0">
                <a:solidFill>
                  <a:srgbClr val="F0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Scrub the plan, not an animation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2297430"/>
            <a:ext cx="1530477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57"/>
              </a:lnSpc>
              <a:buNone/>
            </a:pPr>
            <a:r>
              <a:rPr lang="en-US" sz="1950" dirty="0">
                <a:solidFill>
                  <a:srgbClr val="B8B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fleet is held at the depot until a human authorizes. Then the operator scrubs mission time; assets sit where the solver's ETAs put them, and served stops are separated from pending ones.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47750" y="3459480"/>
            <a:ext cx="178117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8D9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T+45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7750" y="3890010"/>
            <a:ext cx="16207740" cy="872490"/>
          </a:xfrm>
          <a:prstGeom prst="roundRect">
            <a:avLst>
              <a:gd name="adj" fmla="val 8734"/>
            </a:avLst>
          </a:prstGeom>
          <a:ln w="7620">
            <a:solidFill>
              <a:srgbClr val="1A1E1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793" b="-793"/>
          <a:stretch/>
        </p:blipFill>
        <p:spPr>
          <a:xfrm>
            <a:off x="1047750" y="3890010"/>
            <a:ext cx="16207740" cy="8724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47750" y="5048250"/>
            <a:ext cx="178117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8D9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T+120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047750" y="5478780"/>
            <a:ext cx="16207740" cy="872490"/>
          </a:xfrm>
          <a:prstGeom prst="roundRect">
            <a:avLst>
              <a:gd name="adj" fmla="val 8734"/>
            </a:avLst>
          </a:prstGeom>
          <a:ln w="7620">
            <a:solidFill>
              <a:srgbClr val="1A1E19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793" b="-793"/>
          <a:stretch/>
        </p:blipFill>
        <p:spPr>
          <a:xfrm>
            <a:off x="1047750" y="5478780"/>
            <a:ext cx="16207740" cy="87249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47750" y="6770370"/>
            <a:ext cx="167640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57"/>
              </a:lnSpc>
              <a:buNone/>
            </a:pPr>
            <a:r>
              <a:rPr lang="en-US" sz="1950" dirty="0">
                <a:solidFill>
                  <a:srgbClr val="7FB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CI audit asserts rendered position matches the solver's eta_minutes to 0.000000.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1047750" y="7313295"/>
            <a:ext cx="167640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1800" dirty="0">
                <a:solidFill>
                  <a:srgbClr val="8D9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Re-planning mid-mission departs from actual asset positions — a truck at Nepalgunj re-plans from Nepalgunj, 962 km → 481 km.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8D9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MATTERS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42113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930"/>
              </a:lnSpc>
              <a:buNone/>
            </a:pPr>
            <a:r>
              <a:rPr lang="en-US" sz="4500" b="1" spc="-67" kern="0" dirty="0">
                <a:solidFill>
                  <a:srgbClr val="F0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problem is worth solving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2583180"/>
            <a:ext cx="15304770" cy="1446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385"/>
              </a:lnSpc>
              <a:buNone/>
            </a:pPr>
            <a:r>
              <a:rPr lang="en-US" sz="2550" dirty="0">
                <a:solidFill>
                  <a:srgbClr val="F0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OCHA's review of the 2015 earthquake response: communication and logistics difficulties plus a centralized approach left rural communities without support for days, while collapsed bridges and blocked passes delayed convoys.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047750" y="4411028"/>
            <a:ext cx="16344900" cy="5076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385"/>
              </a:lnSpc>
              <a:buNone/>
            </a:pPr>
            <a:r>
              <a:rPr lang="en-US" sz="2550" b="1" dirty="0">
                <a:solidFill>
                  <a:srgbClr val="C7A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not a scarcity failure. It is an interpretation and routing failure.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1047750" y="8488680"/>
            <a:ext cx="16192500" cy="9525"/>
          </a:xfrm>
          <a:prstGeom prst="rect">
            <a:avLst/>
          </a:prstGeom>
          <a:solidFill>
            <a:srgbClr val="E7EBE2">
              <a:alpha val="1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47750" y="8839200"/>
            <a:ext cx="396354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1800" dirty="0">
                <a:solidFill>
                  <a:srgbClr val="B8B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uncertainty visible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162550" y="8839200"/>
            <a:ext cx="396354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1800" dirty="0">
                <a:solidFill>
                  <a:srgbClr val="B8B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every number traceable to its report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277350" y="8839200"/>
            <a:ext cx="396354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1800" dirty="0">
                <a:solidFill>
                  <a:srgbClr val="B8B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Respect the terrain that decides who can be reached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392150" y="8839200"/>
            <a:ext cx="396354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1800" dirty="0">
                <a:solidFill>
                  <a:srgbClr val="B8B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the decision with a human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8D9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42113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930"/>
              </a:lnSpc>
              <a:buNone/>
            </a:pPr>
            <a:r>
              <a:rPr lang="en-US" sz="4500" b="1" spc="-67" kern="0" dirty="0">
                <a:solidFill>
                  <a:srgbClr val="F0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is narrow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3440430"/>
            <a:ext cx="14859000" cy="9525"/>
          </a:xfrm>
          <a:prstGeom prst="rect">
            <a:avLst/>
          </a:prstGeom>
          <a:solidFill>
            <a:srgbClr val="E7EBE2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2792730"/>
            <a:ext cx="1530477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B8B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graph, evidence and scenarios are bundled fixtures, labelled as such in the interface.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047750" y="4343400"/>
            <a:ext cx="14859000" cy="9525"/>
          </a:xfrm>
          <a:prstGeom prst="rect">
            <a:avLst/>
          </a:prstGeom>
          <a:solidFill>
            <a:srgbClr val="E7EBE2">
              <a:alpha val="1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47750" y="3695700"/>
            <a:ext cx="1530477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B8B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is a greedy heuristic; allocation is proportional. No optimality certificate.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047750" y="5246370"/>
            <a:ext cx="14859000" cy="9525"/>
          </a:xfrm>
          <a:prstGeom prst="rect">
            <a:avLst/>
          </a:prstGeom>
          <a:solidFill>
            <a:srgbClr val="E7EBE2">
              <a:alpha val="1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47750" y="4598670"/>
            <a:ext cx="1530477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B8B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Terrain weighting changes no path on this network.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047750" y="6149340"/>
            <a:ext cx="14859000" cy="9525"/>
          </a:xfrm>
          <a:prstGeom prst="rect">
            <a:avLst/>
          </a:prstGeom>
          <a:solidFill>
            <a:srgbClr val="E7EBE2">
              <a:alpha val="1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47750" y="5501640"/>
            <a:ext cx="1530477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B8B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function-calling path takes 30–60 seconds.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047750" y="7052310"/>
            <a:ext cx="14859000" cy="9525"/>
          </a:xfrm>
          <a:prstGeom prst="rect">
            <a:avLst/>
          </a:prstGeom>
          <a:solidFill>
            <a:srgbClr val="E7EBE2">
              <a:alpha val="1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47750" y="6404610"/>
            <a:ext cx="1530477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B8B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Nepali and Devanagari evidence is not yet supported.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047750" y="9124950"/>
            <a:ext cx="163449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C7A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would rather tell you where this is narrow than widen it with numbers we cannot defend.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7250" y="3304222"/>
            <a:ext cx="1333500" cy="133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30106" y="5133023"/>
            <a:ext cx="14027670" cy="60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016"/>
              </a:lnSpc>
              <a:buNone/>
            </a:pPr>
            <a:r>
              <a:rPr lang="en-US" sz="3300" b="1" dirty="0">
                <a:solidFill>
                  <a:srgbClr val="F0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reads, reasons, and calls the engine. It never dispatches.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7137678" y="6384607"/>
            <a:ext cx="441390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D9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github.com/&lt;org&gt;/rakshyanet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7509153" y="6845618"/>
            <a:ext cx="359653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D9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rakshyanet.&lt;host&gt;/demo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2026-07-30T05:37:28Z</dcterms:created>
  <dcterms:modified xsi:type="dcterms:W3CDTF">2026-07-30T05:37:28Z</dcterms:modified>
</cp:coreProperties>
</file>